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3898880" cy="1188720"/>
          </a:xfrm>
          <a:prstGeom prst="rect">
            <a:avLst/>
          </a:prstGeom>
          <a:solidFill>
            <a:srgbClr val="BE1818"/>
          </a:solidFill>
          <a:ln>
            <a:solidFill>
              <a:srgbClr val="BE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0" rIns="1371600" tIns="109728" bIns="73152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PHARMATRUST: DECENTRALIZED PHARMACEUTICAL SUPPLY CHAIN PROVENANCE &amp; ANTI-COUNTERFEITING PLATFORM</a:t>
            </a:r>
          </a:p>
          <a:p>
            <a:pPr algn="ctr">
              <a:defRPr b="1" sz="1300">
                <a:solidFill>
                  <a:srgbClr val="FEF3C7"/>
                </a:solidFill>
              </a:defRPr>
            </a:pPr>
            <a:r>
              <a:t>Sukaran Singh (PRN: 23070122213), Shreyash Sure (PRN: 23070122214)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Under the Guidance of: Dr. Ranjeet Bidwe | Department of Computer Science &amp; Engineering, Symbiosis Institute of Technology, Pune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65760"/>
            <a:ext cx="1005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1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1480"/>
            <a:ext cx="877824" cy="9681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121640" y="365760"/>
            <a:ext cx="1005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BE1818"/>
                </a:solidFill>
              </a:defRPr>
            </a:pPr>
            <a:r>
              <a:t>⚕️✓</a:t>
            </a:r>
            <a:br/>
            <a:r>
              <a:t>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3931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300">
                <a:solidFill>
                  <a:srgbClr val="1E3A5F"/>
                </a:solidFill>
              </a:defRPr>
            </a:pPr>
            <a:r>
              <a:t>Abstract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Substandard and counterfeit pharmaceuticals claim over 1,000,000 lives annually and cause $200B+ in economic losses. Legacy supply chain architectures rely on centralized SQL databases that lack end-to-end transparency, enabling insider tampering, unauthorized batch duplication, and diversion.</a:t>
            </a:r>
            <a:br/>
            <a:br/>
            <a:r>
              <a:t>We present PharmaTrust, an industrial decentralized platform deployed on the Polygon Amoy Layer-2 Proof-of-Stake blockchain. Batches are tokenized into ERC-721 non-fungible tokens linked to IPFS clinical metadata, enforcing deterministic multi-hop role custody transitions with zero-gas public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03320"/>
            <a:ext cx="39319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200">
                <a:solidFill>
                  <a:srgbClr val="1E3A5F"/>
                </a:solidFill>
              </a:defRPr>
            </a:pPr>
            <a:r>
              <a:t>Introduction : What Constitutes Security &amp; Trust?</a:t>
            </a:r>
          </a:p>
          <a:p>
            <a:pPr>
              <a:defRPr sz="819" b="0">
                <a:solidFill>
                  <a:srgbClr val="1E293B"/>
                </a:solidFill>
              </a:defRPr>
            </a:pPr>
            <a:r>
              <a:t>• 🛡️ Batch Authenticity: Cryptographic keccak256 fingerprinting of formula, dosage &amp; expiry permanently stored on-chain.</a:t>
            </a:r>
          </a:p>
          <a:p>
            <a:pPr>
              <a:defRPr sz="819" b="0">
                <a:solidFill>
                  <a:srgbClr val="1E293B"/>
                </a:solidFill>
              </a:defRPr>
            </a:pPr>
            <a:r>
              <a:t>• 🔐 Stakeholder Access Control: Rigid role-based smart contracts restricting actions strictly to registered addresses.</a:t>
            </a:r>
          </a:p>
          <a:p>
            <a:pPr>
              <a:defRPr sz="819" b="0">
                <a:solidFill>
                  <a:srgbClr val="1E293B"/>
                </a:solidFill>
              </a:defRPr>
            </a:pPr>
            <a:r>
              <a:t>• ⚡ Zero-Gas Consumer Verification: Instant eth_call query via dynamic packaging QR codes without requiring Web3 wallets.</a:t>
            </a:r>
          </a:p>
          <a:p>
            <a:pPr>
              <a:defRPr sz="819" b="0">
                <a:solidFill>
                  <a:srgbClr val="1E293B"/>
                </a:solidFill>
              </a:defRPr>
            </a:pPr>
            <a:r>
              <a:t>• ❄️ Instant Recall &amp; Freeze: Automated flagCounterfeit() mechanism immediately blocking subsequent transfers globally.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309360"/>
            <a:ext cx="3931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200">
                <a:solidFill>
                  <a:srgbClr val="1E3A5F"/>
                </a:solidFill>
              </a:defRPr>
            </a:pPr>
            <a:r>
              <a:t>Technologies Used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🔗 Smart Contracts: Solidity v0.8.20, OpenZeppelin ERC-721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⚡ Blockchain Network: Polygon Amoy PoS (Chain ID 80002)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📦 Decentralized Storage: IPFS Content-Addressed Pinning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💻 Web3 Client: React 18, Ethers.js v6, Tailwind CSS (Navy &amp; Gold)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🔄 Hybrid Persistence: Node.js, Express &amp; MongoDB Atlas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5669280" cy="6355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400">
                <a:solidFill>
                  <a:srgbClr val="1E3A5F"/>
                </a:solidFill>
              </a:defRPr>
            </a:pPr>
            <a:r>
              <a:t>Methodology &amp; High-Level Architecture</a:t>
            </a:r>
          </a:p>
        </p:txBody>
      </p:sp>
      <p:pic>
        <p:nvPicPr>
          <p:cNvPr id="11" name="Picture 10" descr="poster_methodology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11680"/>
            <a:ext cx="5394960" cy="5760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332720" y="1600200"/>
            <a:ext cx="3931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200">
                <a:solidFill>
                  <a:srgbClr val="1E3A5F"/>
                </a:solidFill>
              </a:defRPr>
            </a:pPr>
            <a:r>
              <a:t>Conclusion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PharmaTrust demonstrates that Layer-2 Proof-of-Stake blockchains offer the definitive architectural solution for pharmaceutical supply chain integrity. By combining sub-cent gas fees ($0.0003/mint) on Polygon Amoy, parent-child bulk batching (60%+ gas reduction), and zero-gas client verification, the platform makes zero-trust drug provenance universally accessible to manufacturers, pharmacies, and patients.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3383280"/>
            <a:ext cx="3931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defRPr b="1" sz="1200">
                <a:solidFill>
                  <a:srgbClr val="1E3A5F"/>
                </a:solidFill>
              </a:defRPr>
            </a:pPr>
            <a:r>
              <a:t>Empirical Performance &amp; Cost Benchmarks</a:t>
            </a:r>
          </a:p>
        </p:txBody>
      </p:sp>
      <p:pic>
        <p:nvPicPr>
          <p:cNvPr id="14" name="Picture 13" descr="graph1_gas_con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3749039"/>
            <a:ext cx="3657600" cy="1371600"/>
          </a:xfrm>
          <a:prstGeom prst="rect">
            <a:avLst/>
          </a:prstGeom>
        </p:spPr>
      </p:pic>
      <p:pic>
        <p:nvPicPr>
          <p:cNvPr id="15" name="Picture 14" descr="graph2_cost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5212080"/>
            <a:ext cx="3657600" cy="1417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32720" y="681228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b="1" sz="1000">
                <a:solidFill>
                  <a:srgbClr val="1E3A5F"/>
                </a:solidFill>
              </a:defRPr>
            </a:pPr>
            <a:r>
              <a:t>References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[1] Kumar &amp; Tripathi, 'Traceability in Pharma Supply Chain using Blockchain', IEEE ICACCM 2021.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[2] Dwivedi et al., 'Decentralized Healthcare Blockchain for IoT', IEEE JIOT 2021.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[3] Musamih et al., 'Drug Traceability in Healthcare Supply Chain', IEEE Access 2021.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[4] World Health Organization, 'Substandard and Falsified Medical Products', WHO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